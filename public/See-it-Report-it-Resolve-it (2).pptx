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unnel Sans Bold"/>
      <p:regular r:id="rId201314"/>
    </p:embeddedFont>
    <p:embeddedFont>
      <p:font typeface="Funnel Sans"/>
      <p:regular r:id="rId201315"/>
    </p:embeddedFont>
    <p:embeddedFont>
      <p:font typeface="Funnel Sans SemiBold"/>
      <p:regular r:id="rId201316"/>
    </p:embeddedFont>
    <p:embeddedFont>
      <p:font typeface="Mona Sans Bold"/>
      <p:regular r:id="rId201317"/>
    </p:embeddedFont>
    <p:embeddedFont>
      <p:font typeface="Mona Sans Black"/>
      <p:regular r:id="rId201318"/>
    </p:embeddedFont>
    <p:embeddedFont>
      <p:font typeface="Mona Sans"/>
      <p:regular r:id="rId201319"/>
    </p:embeddedFont>
    <p:embeddedFont>
      <p:font typeface="Mona Sans Semi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3151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Resolve UK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205633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See it. Report it. Resolve it.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411946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UK's first national environmental accountability platform — combining citizen engagement, AI verification and transparent resolution tracking to make communities cleaner, safer and more accountable.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5239345"/>
            <a:ext cx="3157260" cy="287139"/>
          </a:xfrm>
          <a:prstGeom prst="roundRect">
            <a:avLst>
              <a:gd name="adj" fmla="val 22118"/>
            </a:avLst>
          </a:prstGeom>
          <a:solidFill>
            <a:srgbClr val="E2E4E9"/>
          </a:solidFill>
          <a:ln/>
        </p:spPr>
      </p:sp>
      <p:sp>
        <p:nvSpPr>
          <p:cNvPr id="7" name="Text 4"/>
          <p:cNvSpPr/>
          <p:nvPr/>
        </p:nvSpPr>
        <p:spPr>
          <a:xfrm>
            <a:off x="774879" y="5295999"/>
            <a:ext cx="354003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SOCIAL ENTERPRISE · CIVIC TECHNOLOGY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606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19807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Problem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253530"/>
            <a:ext cx="629686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Millions of environmental issues are reported across the UK every year — yet citizens rarely know what happens next. Fragmented systems, inconsistent accountability and a lack of transparency leave communities feeling unheard.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160389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3119" y="2332037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1M+ Fly-Tipping Incidents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3119" y="2677319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Reported annually across the UK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1475" y="3241675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3119" y="3413323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Hundreds of Thousands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3119" y="3758605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Of pothole complaints go unresolved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4322961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3119" y="4494609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Fragmented Reporting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3119" y="4839891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consistent national system or accountability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1475" y="5404247"/>
            <a:ext cx="6296860" cy="936625"/>
          </a:xfrm>
          <a:prstGeom prst="roundRect">
            <a:avLst>
              <a:gd name="adj" fmla="val 7416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119" y="5575895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Zero Transparency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3119" y="5921177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Citizens report — nobody knows what happens next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285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Real Cost of Inaction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24868"/>
            <a:ext cx="5566529" cy="34661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7244" y="2760266"/>
            <a:ext cx="357922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Environmental blight is not just an aesthetic problem — it carries measurable economic, social and civic costs that compound over time.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030093"/>
            <a:ext cx="2637466" cy="122495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8403" y="5190827"/>
            <a:ext cx="22398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Higher Clean-Up Costs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898403" y="5475982"/>
            <a:ext cx="223980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Delayed resolution multiplies remediation expenditure for councils and housing associations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5202" y="5030093"/>
            <a:ext cx="2637466" cy="122495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42130" y="5190827"/>
            <a:ext cx="2239807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Vehicle Damage &amp; Insurance Claims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3642130" y="5697438"/>
            <a:ext cx="223980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Potholes and infrastructure failures generate significant liability costs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8928" y="5030093"/>
            <a:ext cx="2637466" cy="122495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85857" y="5190827"/>
            <a:ext cx="22398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Reduced Property Values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385857" y="5475982"/>
            <a:ext cx="223980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Persistent environmental blight depresses local housing markets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92655" y="5030093"/>
            <a:ext cx="2637565" cy="122495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29583" y="5190827"/>
            <a:ext cx="2239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Erosion of Public Trust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9129583" y="5475982"/>
            <a:ext cx="223990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Unresolved reports undermine confidence in local government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Gap in the Market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UK lacks a national platform that connects citizen reporting with verifiable resolution, performance benchmarking and actionable environmental intelligence. Existing tools stop at reporting — Resolve UK goes further.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487" y="3425627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What's Missing Today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487" y="3620492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Current solutions — from FixMyStreet to council CRM systems — capture reports but fail to close the loop. There is no national standard for resolution tracking, no AI-powered verification and no public benchmarking of authority performance.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6217487" y="3900388"/>
            <a:ext cx="5319083" cy="245566"/>
          </a:xfrm>
          <a:prstGeom prst="roundRect">
            <a:avLst>
              <a:gd name="adj" fmla="val 16164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41" y="3977481"/>
            <a:ext cx="118067" cy="94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24462" y="3966468"/>
            <a:ext cx="55272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is the opportunity: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FixMyStreet + Intelligence + Accountability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9756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40123"/>
            <a:ext cx="1147833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Resolve UK is a free citizen platform backed by a powerful intelligence layer — from first report to verified resolution with national dashboards that hold authorities accountable.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61475" y="1396008"/>
            <a:ext cx="496081" cy="744240"/>
          </a:xfrm>
          <a:prstGeom prst="roundRect">
            <a:avLst>
              <a:gd name="adj" fmla="val 50000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6451" y="1675011"/>
            <a:ext cx="186031" cy="1860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8914" y="1520031"/>
            <a:ext cx="1029130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Simple Reporting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38914" y="1762621"/>
            <a:ext cx="1029130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Citizens report issues in seconds via web or mobile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61475" y="2221607"/>
            <a:ext cx="496081" cy="744240"/>
          </a:xfrm>
          <a:prstGeom prst="roundRect">
            <a:avLst>
              <a:gd name="adj" fmla="val 50000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451" y="2500610"/>
            <a:ext cx="186031" cy="1860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8914" y="2345630"/>
            <a:ext cx="1029130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 Categorisation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38914" y="2588220"/>
            <a:ext cx="1029130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Automatic classification and priority scoring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61475" y="3047206"/>
            <a:ext cx="496081" cy="744240"/>
          </a:xfrm>
          <a:prstGeom prst="roundRect">
            <a:avLst>
              <a:gd name="adj" fmla="val 50000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451" y="3326209"/>
            <a:ext cx="186031" cy="1860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8914" y="3171230"/>
            <a:ext cx="1029130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Automatic Routing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238914" y="3413820"/>
            <a:ext cx="1029130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Issues sent directly to the responsible authority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61475" y="3872805"/>
            <a:ext cx="496081" cy="744240"/>
          </a:xfrm>
          <a:prstGeom prst="roundRect">
            <a:avLst>
              <a:gd name="adj" fmla="val 50000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6451" y="4151809"/>
            <a:ext cx="186031" cy="18603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8914" y="3996829"/>
            <a:ext cx="1029130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Resolution Tracking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38914" y="4239419"/>
            <a:ext cx="1029130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Live status updates visible to all stakeholders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61475" y="4698405"/>
            <a:ext cx="496081" cy="744240"/>
          </a:xfrm>
          <a:prstGeom prst="roundRect">
            <a:avLst>
              <a:gd name="adj" fmla="val 50000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6451" y="4977408"/>
            <a:ext cx="186031" cy="18603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8914" y="4822428"/>
            <a:ext cx="1029130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 Verification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238914" y="5065018"/>
            <a:ext cx="1029130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Outcomes confirmed, not just claimed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61475" y="5524004"/>
            <a:ext cx="496081" cy="744240"/>
          </a:xfrm>
          <a:prstGeom prst="roundRect">
            <a:avLst>
              <a:gd name="adj" fmla="val 50000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6451" y="5803007"/>
            <a:ext cx="186031" cy="18603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38914" y="5648027"/>
            <a:ext cx="1029130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National Dashboards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238914" y="5890617"/>
            <a:ext cx="1029130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Public benchmarking and environmental intelligence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377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Why We Win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62273"/>
            <a:ext cx="1086874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Resolve UK is not a reporting app. It is an accountability and intelligence platform — a fundamentally different category that avoids direct competition while serving every stakeholder in the environmental resolution chain.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08808"/>
          <a:ext cx="9143771" cy="914400"/>
        </p:xfrm>
        <a:graphic>
          <a:graphicData uri="http://schemas.openxmlformats.org/drawingml/2006/table">
            <a:tbl>
              <a:tblPr/>
              <a:tblGrid>
                <a:gridCol w="2091598"/>
                <a:gridCol w="1568699"/>
                <a:gridCol w="1568699"/>
              </a:tblGrid>
              <a:tr h="45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Capability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Existing Players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Resolve UK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34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Reporting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✓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✓ + Resolution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080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Scope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Individual cases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National intelligence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080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Benchmarking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✗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Public benchmarks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34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Verification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✗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AI-verified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7080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Orientation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Council-centric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Community-centric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Approach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Reactive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2586B"/>
                          </a:solidFill>
                          <a:latin typeface="Funnel Sans" pitchFamily="34" charset="0"/>
                          <a:ea typeface="Funnel Sans" pitchFamily="34" charset="-122"/>
                          <a:cs typeface="Funnel Sans" pitchFamily="34" charset="-120"/>
                        </a:rPr>
                        <a:t>Predictive</a:t>
                      </a:r>
                      <a:endParaRPr lang="en-US" sz="1300" dirty="0">
                        <a:latin typeface="Funnel Sans" charset="0"/>
                        <a:ea typeface="Funnel Sans" charset="0"/>
                        <a:cs typeface="Funnel Sans" charset="0"/>
                      </a:endParaRPr>
                    </a:p>
                  </a:txBody>
                  <a:tcPr marL="168344" marR="168344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2648530"/>
            <a:ext cx="5228995" cy="105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3101948"/>
            <a:ext cx="5228995" cy="105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3809955"/>
            <a:ext cx="5228995" cy="105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4517963"/>
            <a:ext cx="5228995" cy="105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4971381"/>
            <a:ext cx="5228995" cy="105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5679388"/>
            <a:ext cx="5228995" cy="105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307575" y="2190055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Competitive Landscape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307575" y="2603004"/>
            <a:ext cx="5228995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FixMyStreet is trusted but limited to reporting. Fill That Hole addresses only potholes. Love Clean Streets is council software, not a national platform. Snap Send Solve (Australia) is the closest international comparable — but lacks an intelligence layer.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7575" y="3790057"/>
            <a:ext cx="5228995" cy="608608"/>
          </a:xfrm>
          <a:prstGeom prst="roundRect">
            <a:avLst>
              <a:gd name="adj" fmla="val 11617"/>
            </a:avLst>
          </a:prstGeom>
          <a:solidFill>
            <a:srgbClr val="E2E4E9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846" y="4025305"/>
            <a:ext cx="210338" cy="1682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4455" y="3967063"/>
            <a:ext cx="512342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Resolve UK = FixMyStreet + Intelligence + Accountability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Market Size &amp; Business Model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465858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Total Addressable Market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1898650"/>
            <a:ext cx="5221851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Resolve UK's TAM exceeds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£100 million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spanning a diverse and growing set of institutional customers who need environmental data, accountability tools and ESG reporting capabilities.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14719" y="1465858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Revenue Streams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14719" y="1898650"/>
            <a:ext cx="5221851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citizen platform is free — removing all barriers to adoption. Revenue is generated from institutional customers who benefit from the intelligence layer.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1475" y="3027263"/>
            <a:ext cx="2596688" cy="1537395"/>
          </a:xfrm>
          <a:prstGeom prst="roundRect">
            <a:avLst>
              <a:gd name="adj" fmla="val 4760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2048" y="3207841"/>
            <a:ext cx="223554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317 Local Authorities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2048" y="3576340"/>
            <a:ext cx="2235541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Primary SaaS customers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18794" y="3027263"/>
            <a:ext cx="2596688" cy="1537395"/>
          </a:xfrm>
          <a:prstGeom prst="roundRect">
            <a:avLst>
              <a:gd name="adj" fmla="val 4760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9368" y="3207841"/>
            <a:ext cx="2235541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Housing Associations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99368" y="3848497"/>
            <a:ext cx="223554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National and regional operators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6113" y="3027263"/>
            <a:ext cx="2596688" cy="1537395"/>
          </a:xfrm>
          <a:prstGeom prst="roundRect">
            <a:avLst>
              <a:gd name="adj" fmla="val 4760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6687" y="3207841"/>
            <a:ext cx="223554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Waste Operators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6687" y="3576340"/>
            <a:ext cx="223554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Biffa, Veolia, FCC Environment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33433" y="3027263"/>
            <a:ext cx="2596787" cy="1537395"/>
          </a:xfrm>
          <a:prstGeom prst="roundRect">
            <a:avLst>
              <a:gd name="adj" fmla="val 4760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14006" y="3207841"/>
            <a:ext cx="2235640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BIDs, Universities &amp; Insurers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14006" y="3848497"/>
            <a:ext cx="223564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Extended enterprise market</a:t>
            </a:r>
            <a:endParaRPr lang="en-US" sz="13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6759" y="4750743"/>
            <a:ext cx="261336" cy="26134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27702" y="4745335"/>
            <a:ext cx="476773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SaaS Subscriptions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227702" y="5113834"/>
            <a:ext cx="4767739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Authority and enterprise licences</a:t>
            </a:r>
            <a:endParaRPr lang="en-US" sz="13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1439" y="4750743"/>
            <a:ext cx="261336" cy="26134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762382" y="4745335"/>
            <a:ext cx="4767838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Benchmarking &amp; Analytics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6762382" y="5113834"/>
            <a:ext cx="4767838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Performance data and comparative reports</a:t>
            </a:r>
            <a:endParaRPr lang="en-US" sz="13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6759" y="5708303"/>
            <a:ext cx="261336" cy="26134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227702" y="5702895"/>
            <a:ext cx="476773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API Access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1227702" y="6071394"/>
            <a:ext cx="4767739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Integration for waste operators and insurers</a:t>
            </a:r>
            <a:endParaRPr lang="en-US" sz="13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61439" y="5708303"/>
            <a:ext cx="261336" cy="26134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62382" y="5702895"/>
            <a:ext cx="4767838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ESG Partnerships &amp; Sponsorship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6762382" y="6071394"/>
            <a:ext cx="4767838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Corporate environmental accountability programmes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6653"/>
            <a:ext cx="6296860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Social Impact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61475" y="1145084"/>
            <a:ext cx="6296860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Resolve UK is a social enterprise. Every feature, every partnership and every pound of revenue is designed to generate measurable public benefit — not just shareholder value.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78484"/>
            <a:ext cx="361743" cy="3617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2178645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Cleaner Communities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61475" y="2471142"/>
            <a:ext cx="629686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Faster resolution of fly-tipping, litter and environmental blight across all issue types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897088"/>
            <a:ext cx="361743" cy="3617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3397250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Improved Transparency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661475" y="3689747"/>
            <a:ext cx="629686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Public dashboards hold authorities accountable and rebuild civic trust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115693"/>
            <a:ext cx="361743" cy="3617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475" y="4615855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Better Use of Public Funds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661475" y="4908352"/>
            <a:ext cx="629686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Data-driven prioritisation reduces waste and directs resources where they are needed most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334298"/>
            <a:ext cx="361743" cy="36175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1475" y="5834459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Community Engagement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661475" y="6126956"/>
            <a:ext cx="629686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Citizens become active participants in shaping their local environment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Pilot Programme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 are seeking partners for a structured 12-month pilot to validate the platform, demonstrate impact and build the evidence base for national rollout. Pilot partners will receive dedicated support, co-branding and early access to benchmarking data.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10868745" cy="48909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8699" y="1249772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Onboarding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298699" y="1627309"/>
            <a:ext cx="1902004" cy="529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 authorities &amp; 1 housing partner (M1–3)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79801" y="5006192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Launch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179801" y="5383729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Citizen platform, 5,000 users (M4–6)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40002" y="1301373"/>
            <a:ext cx="1902003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Scale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040002" y="1678910"/>
            <a:ext cx="1902003" cy="35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50,000 incidents; AI verification (M7–9)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21104" y="5006192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Evaluate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921104" y="5383729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National dashboard &amp; scale prep (M10–12)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602009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pilot is designed to generate rigorous, publishable evidence of resolution rates, cost savings and citizen satisfaction — creating a compelling case for wider adoption.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61475" y="6233815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661475" y="6628309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Pilot Authorities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61475" y="6804223"/>
            <a:ext cx="540480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Plus 1 housing association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125315" y="6233815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5K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6125315" y="6628309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Target Users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25315" y="6804223"/>
            <a:ext cx="5404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Active citizen reporters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61475" y="7059315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50K</a:t>
            </a:r>
            <a:endParaRPr lang="en-US" sz="2450" dirty="0"/>
          </a:p>
        </p:txBody>
      </p:sp>
      <p:sp>
        <p:nvSpPr>
          <p:cNvPr id="21" name="Text 18"/>
          <p:cNvSpPr/>
          <p:nvPr/>
        </p:nvSpPr>
        <p:spPr>
          <a:xfrm>
            <a:off x="661475" y="7453809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Incidents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61475" y="7629723"/>
            <a:ext cx="540480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Tracked and resolved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125315" y="7059315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12</a:t>
            </a:r>
            <a:endParaRPr lang="en-US" sz="2450" dirty="0"/>
          </a:p>
        </p:txBody>
      </p:sp>
      <p:sp>
        <p:nvSpPr>
          <p:cNvPr id="24" name="Text 21"/>
          <p:cNvSpPr/>
          <p:nvPr/>
        </p:nvSpPr>
        <p:spPr>
          <a:xfrm>
            <a:off x="6125315" y="7453809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Months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25315" y="7629723"/>
            <a:ext cx="5404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Structured pilot duration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1336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Investment Ask: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2026-09-07T15:34:01Z</dcterms:created>
  <dcterms:modified xsi:type="dcterms:W3CDTF">2026-09-07T15:34:01Z</dcterms:modified>
</cp:coreProperties>
</file>